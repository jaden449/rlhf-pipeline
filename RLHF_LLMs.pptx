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72" r:id="rId5"/>
    <p:sldMasterId id="2147483670" r:id="rId6"/>
    <p:sldMasterId id="2147483687" r:id="rId7"/>
  </p:sldMasterIdLst>
  <p:notesMasterIdLst>
    <p:notesMasterId r:id="rId18"/>
  </p:notesMasterIdLst>
  <p:handoutMasterIdLst>
    <p:handoutMasterId r:id="rId19"/>
  </p:handoutMasterIdLst>
  <p:sldIdLst>
    <p:sldId id="332" r:id="rId8"/>
    <p:sldId id="319" r:id="rId9"/>
    <p:sldId id="355" r:id="rId10"/>
    <p:sldId id="356" r:id="rId11"/>
    <p:sldId id="357" r:id="rId12"/>
    <p:sldId id="359" r:id="rId13"/>
    <p:sldId id="362" r:id="rId14"/>
    <p:sldId id="302" r:id="rId15"/>
    <p:sldId id="360" r:id="rId16"/>
    <p:sldId id="361" r:id="rId17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5263"/>
    <a:srgbClr val="E0CC94"/>
    <a:srgbClr val="70B6AD"/>
    <a:srgbClr val="1448FF"/>
    <a:srgbClr val="140F50"/>
    <a:srgbClr val="EFF0F0"/>
    <a:srgbClr val="28404F"/>
    <a:srgbClr val="4F81B5"/>
    <a:srgbClr val="71848F"/>
    <a:srgbClr val="054A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11" autoAdjust="0"/>
    <p:restoredTop sz="95310" autoAdjust="0"/>
  </p:normalViewPr>
  <p:slideViewPr>
    <p:cSldViewPr snapToGrid="0" snapToObjects="1">
      <p:cViewPr varScale="1">
        <p:scale>
          <a:sx n="116" d="100"/>
          <a:sy n="116" d="100"/>
        </p:scale>
        <p:origin x="883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203" d="100"/>
          <a:sy n="203" d="100"/>
        </p:scale>
        <p:origin x="7656" y="1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F6F4C1-4114-4918-8993-473D0CD5D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17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EDB437F-59FE-4A6C-A802-8DC8214269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43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6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62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65400"/>
            <a:ext cx="6786563" cy="29670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EAAFC098-C02F-9AF6-D335-ABF4DC8E2D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0521A-A469-4C8C-CC18-D141A4A187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8845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+ Image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59F870-C9DC-B994-D416-F8036DDDE93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1644" y="858839"/>
            <a:ext cx="4021494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6564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98611-05E5-3C58-6976-C402E44F5C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6C71A2-DB3B-7E3C-CEB1-309123E104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7" y="1212980"/>
            <a:ext cx="1762179" cy="190213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ED555E62-9954-370D-93EE-6E25E80F0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18" y="2298215"/>
            <a:ext cx="5896591" cy="706243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800" spc="30" baseline="0"/>
            </a:lvl1pPr>
          </a:lstStyle>
          <a:p>
            <a:r>
              <a:rPr lang="en-GB" dirty="0"/>
              <a:t>Divider title here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B95D9-19B0-A38C-196A-C9FAF09E3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708" y="1322516"/>
            <a:ext cx="953682" cy="81250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800" b="1" i="0" spc="-100" baseline="0">
                <a:latin typeface="Franklin Gothic Demi Cond" panose="020B0603020102020204" pitchFamily="34" charset="0"/>
              </a:defRPr>
            </a:lvl1pPr>
          </a:lstStyle>
          <a:p>
            <a:pPr lvl="0"/>
            <a:r>
              <a:rPr lang="en-GB" kern="0" dirty="0"/>
              <a:t>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4876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69B99A2-FCDD-5902-BFD9-294E7BE4E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661" y="827479"/>
            <a:ext cx="8038563" cy="3283272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400" spc="30" baseline="0"/>
            </a:lvl1pPr>
          </a:lstStyle>
          <a:p>
            <a:r>
              <a:rPr lang="en-GB" dirty="0"/>
              <a:t>Large statement – as appropriate in </a:t>
            </a:r>
            <a:br>
              <a:rPr lang="en-GB" dirty="0"/>
            </a:br>
            <a:r>
              <a:rPr lang="en-GB" dirty="0"/>
              <a:t>key statements and quotes, a key</a:t>
            </a:r>
            <a:br>
              <a:rPr lang="en-GB" dirty="0"/>
            </a:br>
            <a:r>
              <a:rPr lang="en-GB" dirty="0"/>
              <a:t>word or short phrase may be in another colour for emphasis.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424-9FDB-4BC9-F026-99764529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29259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Lime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710D29-8FDE-D921-0D43-770033C84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1717DE-D314-E6D0-15BF-02BA45D21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925" y="868149"/>
            <a:ext cx="7104063" cy="32258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1CD38-8875-7F6A-99D6-37478E27722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236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Content + Image - Lime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B23301-70DF-3F63-BCED-DA71FA8C1C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1644" y="858839"/>
            <a:ext cx="4021494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4792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or Diagram - no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1C3A61-2390-9132-8B81-AA738364A2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6E7548E-CC21-1955-9266-E702601FC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add optional footnote, delete if not required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AA5FF7-E2A3-857F-69BE-1E450282D9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0"/>
            <a:ext cx="9144000" cy="4264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GB" dirty="0"/>
              <a:t>Drag to insert image/chart/diagram or click icons below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62658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or Diagram - with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B7DE-429E-3917-ED2C-03535E430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217" y="171520"/>
            <a:ext cx="4034485" cy="864178"/>
          </a:xfrm>
        </p:spPr>
        <p:txBody>
          <a:bodyPr/>
          <a:lstStyle/>
          <a:p>
            <a:r>
              <a:rPr lang="en-GB" dirty="0"/>
              <a:t>Click to add heading</a:t>
            </a: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ED14B4E-D640-322D-1D48-021319DC50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add optional footnote, delete if not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F40294-C814-063D-2A43-E8DB14A05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2530" y="184421"/>
            <a:ext cx="3437617" cy="10658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/>
            </a:lvl2pPr>
            <a:lvl3pPr>
              <a:defRPr sz="1100">
                <a:latin typeface="Georgia" panose="02040502050405020303" pitchFamily="18" charset="0"/>
              </a:defRPr>
            </a:lvl3pPr>
            <a:lvl5pPr marL="665163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2"/>
            <a:r>
              <a:rPr lang="en-GB" dirty="0"/>
              <a:t>Bullet point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0560318-7321-E90D-0986-C2F92697DD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4129B2-E89D-A8CD-1C03-8AD49AECF6F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16218" y="1316038"/>
            <a:ext cx="8224546" cy="2947987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GB" dirty="0"/>
              <a:t>Drag to insert image/chart/diagram or click icons below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1791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65400"/>
            <a:ext cx="6786563" cy="296703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64302-3E98-D08D-CD67-78E1B772D4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0015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7EEF5-EF33-D6E6-BED1-A03E315F23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FA922-DAD3-9818-6826-7165ABA00C0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0" y="858838"/>
            <a:ext cx="4021138" cy="3619500"/>
          </a:xfrm>
        </p:spPr>
        <p:txBody>
          <a:bodyPr/>
          <a:lstStyle/>
          <a:p>
            <a:pPr lvl="0"/>
            <a:r>
              <a:rPr lang="en-GB" dirty="0"/>
              <a:t>Click to add image/chart/diagram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1067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96C71A2-DB3B-7E3C-CEB1-309123E104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7" y="1212980"/>
            <a:ext cx="1762179" cy="190213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ED555E62-9954-370D-93EE-6E25E80F0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18" y="2298215"/>
            <a:ext cx="5896591" cy="706243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800" spc="30" baseline="0"/>
            </a:lvl1pPr>
          </a:lstStyle>
          <a:p>
            <a:r>
              <a:rPr lang="en-GB" dirty="0"/>
              <a:t>Divider title here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B95D9-19B0-A38C-196A-C9FAF09E3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708" y="1322516"/>
            <a:ext cx="870610" cy="812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4800" b="1" i="0" spc="-100" baseline="0">
                <a:solidFill>
                  <a:schemeClr val="bg1"/>
                </a:solidFill>
                <a:latin typeface="Franklin Gothic Demi Cond" panose="020B0603020102020204" pitchFamily="34" charset="0"/>
              </a:defRPr>
            </a:lvl1pPr>
          </a:lstStyle>
          <a:p>
            <a:pPr lvl="0"/>
            <a:r>
              <a:rPr lang="en-GB" kern="0" dirty="0"/>
              <a:t>01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339700-8A87-A56F-068A-B414F7B8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3404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69B99A2-FCDD-5902-BFD9-294E7BE4E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661" y="827479"/>
            <a:ext cx="8007827" cy="3283272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400" spc="30" baseline="0"/>
            </a:lvl1pPr>
          </a:lstStyle>
          <a:p>
            <a:r>
              <a:rPr lang="en-GB" dirty="0"/>
              <a:t>Large statement – as appropriate in </a:t>
            </a:r>
            <a:br>
              <a:rPr lang="en-GB" dirty="0"/>
            </a:br>
            <a:r>
              <a:rPr lang="en-GB" dirty="0"/>
              <a:t>key statements and quotes, a key</a:t>
            </a:r>
            <a:br>
              <a:rPr lang="en-GB" dirty="0"/>
            </a:br>
            <a:r>
              <a:rPr lang="en-GB" dirty="0"/>
              <a:t>word or short phrase may be in another colour for emphasis.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9576D6-8BDC-98B3-FD5A-1B5D926A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9296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1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299AEC20-E69A-76BA-0914-D0136AF0B595}"/>
              </a:ext>
            </a:extLst>
          </p:cNvPr>
          <p:cNvSpPr/>
          <p:nvPr userDrawn="1"/>
        </p:nvSpPr>
        <p:spPr bwMode="auto">
          <a:xfrm>
            <a:off x="2488117" y="-1"/>
            <a:ext cx="6655873" cy="5143501"/>
          </a:xfrm>
          <a:custGeom>
            <a:avLst/>
            <a:gdLst>
              <a:gd name="connsiteX0" fmla="*/ 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0 w 3413156"/>
              <a:gd name="connsiteY4" fmla="*/ 0 h 3576119"/>
              <a:gd name="connsiteX0" fmla="*/ 206419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064190 w 3413156"/>
              <a:gd name="connsiteY4" fmla="*/ 0 h 3576119"/>
              <a:gd name="connsiteX0" fmla="*/ 1954632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1954632 w 3413156"/>
              <a:gd name="connsiteY4" fmla="*/ 0 h 3576119"/>
              <a:gd name="connsiteX0" fmla="*/ 2152679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152679 w 3413156"/>
              <a:gd name="connsiteY4" fmla="*/ 0 h 3576119"/>
              <a:gd name="connsiteX0" fmla="*/ 1773439 w 3033916"/>
              <a:gd name="connsiteY0" fmla="*/ 0 h 3576119"/>
              <a:gd name="connsiteX1" fmla="*/ 3033916 w 3033916"/>
              <a:gd name="connsiteY1" fmla="*/ 0 h 3576119"/>
              <a:gd name="connsiteX2" fmla="*/ 3033916 w 3033916"/>
              <a:gd name="connsiteY2" fmla="*/ 3576119 h 3576119"/>
              <a:gd name="connsiteX3" fmla="*/ 0 w 3033916"/>
              <a:gd name="connsiteY3" fmla="*/ 3576119 h 3576119"/>
              <a:gd name="connsiteX4" fmla="*/ 1773439 w 3033916"/>
              <a:gd name="connsiteY4" fmla="*/ 0 h 3576119"/>
              <a:gd name="connsiteX0" fmla="*/ 1832432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32432 w 3092909"/>
              <a:gd name="connsiteY4" fmla="*/ 0 h 3576119"/>
              <a:gd name="connsiteX0" fmla="*/ 1899853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99853 w 3092909"/>
              <a:gd name="connsiteY4" fmla="*/ 0 h 3576119"/>
              <a:gd name="connsiteX0" fmla="*/ 1954632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54632 w 3092909"/>
              <a:gd name="connsiteY4" fmla="*/ 6294 h 3576119"/>
              <a:gd name="connsiteX0" fmla="*/ 1946204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6204 w 3092909"/>
              <a:gd name="connsiteY4" fmla="*/ 6294 h 3576119"/>
              <a:gd name="connsiteX0" fmla="*/ 1947854 w 3092909"/>
              <a:gd name="connsiteY0" fmla="*/ 1366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7854 w 3092909"/>
              <a:gd name="connsiteY4" fmla="*/ 1366 h 3576119"/>
              <a:gd name="connsiteX0" fmla="*/ 1952802 w 3097857"/>
              <a:gd name="connsiteY0" fmla="*/ 1366 h 3576119"/>
              <a:gd name="connsiteX1" fmla="*/ 3097857 w 3097857"/>
              <a:gd name="connsiteY1" fmla="*/ 0 h 3576119"/>
              <a:gd name="connsiteX2" fmla="*/ 3097857 w 3097857"/>
              <a:gd name="connsiteY2" fmla="*/ 3576119 h 3576119"/>
              <a:gd name="connsiteX3" fmla="*/ 0 w 3097857"/>
              <a:gd name="connsiteY3" fmla="*/ 3573655 h 3576119"/>
              <a:gd name="connsiteX4" fmla="*/ 1952802 w 3097857"/>
              <a:gd name="connsiteY4" fmla="*/ 1366 h 3576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7857" h="3576119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84BA5-875A-D74A-7BD5-38732DDD1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20F0F-DA8D-15A9-C6E9-20829F6D3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08140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2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299AEC20-E69A-76BA-0914-D0136AF0B595}"/>
              </a:ext>
            </a:extLst>
          </p:cNvPr>
          <p:cNvSpPr/>
          <p:nvPr userDrawn="1"/>
        </p:nvSpPr>
        <p:spPr bwMode="auto">
          <a:xfrm>
            <a:off x="2488117" y="-1"/>
            <a:ext cx="6655873" cy="5143501"/>
          </a:xfrm>
          <a:custGeom>
            <a:avLst/>
            <a:gdLst>
              <a:gd name="connsiteX0" fmla="*/ 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0 w 3413156"/>
              <a:gd name="connsiteY4" fmla="*/ 0 h 3576119"/>
              <a:gd name="connsiteX0" fmla="*/ 206419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064190 w 3413156"/>
              <a:gd name="connsiteY4" fmla="*/ 0 h 3576119"/>
              <a:gd name="connsiteX0" fmla="*/ 1954632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1954632 w 3413156"/>
              <a:gd name="connsiteY4" fmla="*/ 0 h 3576119"/>
              <a:gd name="connsiteX0" fmla="*/ 2152679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152679 w 3413156"/>
              <a:gd name="connsiteY4" fmla="*/ 0 h 3576119"/>
              <a:gd name="connsiteX0" fmla="*/ 1773439 w 3033916"/>
              <a:gd name="connsiteY0" fmla="*/ 0 h 3576119"/>
              <a:gd name="connsiteX1" fmla="*/ 3033916 w 3033916"/>
              <a:gd name="connsiteY1" fmla="*/ 0 h 3576119"/>
              <a:gd name="connsiteX2" fmla="*/ 3033916 w 3033916"/>
              <a:gd name="connsiteY2" fmla="*/ 3576119 h 3576119"/>
              <a:gd name="connsiteX3" fmla="*/ 0 w 3033916"/>
              <a:gd name="connsiteY3" fmla="*/ 3576119 h 3576119"/>
              <a:gd name="connsiteX4" fmla="*/ 1773439 w 3033916"/>
              <a:gd name="connsiteY4" fmla="*/ 0 h 3576119"/>
              <a:gd name="connsiteX0" fmla="*/ 1832432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32432 w 3092909"/>
              <a:gd name="connsiteY4" fmla="*/ 0 h 3576119"/>
              <a:gd name="connsiteX0" fmla="*/ 1899853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99853 w 3092909"/>
              <a:gd name="connsiteY4" fmla="*/ 0 h 3576119"/>
              <a:gd name="connsiteX0" fmla="*/ 1954632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54632 w 3092909"/>
              <a:gd name="connsiteY4" fmla="*/ 6294 h 3576119"/>
              <a:gd name="connsiteX0" fmla="*/ 1946204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6204 w 3092909"/>
              <a:gd name="connsiteY4" fmla="*/ 6294 h 3576119"/>
              <a:gd name="connsiteX0" fmla="*/ 1947854 w 3092909"/>
              <a:gd name="connsiteY0" fmla="*/ 1366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7854 w 3092909"/>
              <a:gd name="connsiteY4" fmla="*/ 1366 h 3576119"/>
              <a:gd name="connsiteX0" fmla="*/ 1952802 w 3097857"/>
              <a:gd name="connsiteY0" fmla="*/ 1366 h 3576119"/>
              <a:gd name="connsiteX1" fmla="*/ 3097857 w 3097857"/>
              <a:gd name="connsiteY1" fmla="*/ 0 h 3576119"/>
              <a:gd name="connsiteX2" fmla="*/ 3097857 w 3097857"/>
              <a:gd name="connsiteY2" fmla="*/ 3576119 h 3576119"/>
              <a:gd name="connsiteX3" fmla="*/ 0 w 3097857"/>
              <a:gd name="connsiteY3" fmla="*/ 3573655 h 3576119"/>
              <a:gd name="connsiteX4" fmla="*/ 1952802 w 3097857"/>
              <a:gd name="connsiteY4" fmla="*/ 1366 h 3576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7857" h="3576119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84BA5-875A-D74A-7BD5-38732DDD1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E2F907-E909-A175-78A6-75C3EC200F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81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1 - Sand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AC4FFD99-1A12-7365-A732-1AD2E9BF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DC92CB0-F542-88C1-CCB5-F5AAFD238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202294-1095-48AD-0DEA-06B6C6EEB4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4970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2 - Sand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AC4FFD99-1A12-7365-A732-1AD2E9BF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DC92CB0-F542-88C1-CCB5-F5AAFD238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F49EAE-07C5-4961-EE2B-CB61098B0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585035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9CFD129-1E84-D3A9-D2DF-2DEC99059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802931" cy="73155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44332F21-7BDB-D056-0E1A-62F4BF700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785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1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3544" cy="73129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A721DE-5D37-9BCC-D371-574C6E5659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38696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2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3544" cy="731294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3E165-1D48-55A4-852A-CD47843B8C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0180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Bright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28D05E4-9E0C-8925-BA90-CAC43ADCD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4186238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4E81525E-3A88-AAC3-269E-4286D3653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9052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9FD767-AE4F-7D27-092F-2BE70CAFF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7605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73449B55-E9E7-5A13-D626-B9512C83B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543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971800" y="290514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BB730-96BC-DAF5-7747-B3407F7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FE83-9705-00DD-1DD1-27D362C1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17" y="107238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EE0B90A-D564-CD99-7A5C-25B9544D8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7" r:id="rId2"/>
    <p:sldLayoutId id="2147483702" r:id="rId3"/>
    <p:sldLayoutId id="2147483668" r:id="rId4"/>
    <p:sldLayoutId id="2147483666" r:id="rId5"/>
    <p:sldLayoutId id="2147483661" r:id="rId6"/>
    <p:sldLayoutId id="2147483701" r:id="rId7"/>
    <p:sldLayoutId id="2147483669" r:id="rId8"/>
    <p:sldLayoutId id="2147483700" r:id="rId9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="1" i="0" spc="-40" baseline="0">
          <a:solidFill>
            <a:srgbClr val="140F50"/>
          </a:solidFill>
          <a:latin typeface="Franklin Gothic Demi Cond" panose="020B0603020102020204" pitchFamily="34" charset="0"/>
          <a:ea typeface="Franklin Gothic Demi Cond" panose="020B0603020102020204" pitchFamily="34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0" indent="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None/>
        <a:defRPr sz="1200" b="0" i="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1pPr>
      <a:lvl2pPr marL="7938" indent="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SzPct val="110000"/>
        <a:buFont typeface="Arial" panose="020B0604020202020204" pitchFamily="34" charset="0"/>
        <a:buNone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2pPr>
      <a:lvl3pPr marL="222250" indent="-22225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•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3pPr>
      <a:lvl4pPr marL="222250" indent="-214313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–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4pPr>
      <a:lvl5pPr marL="239713" indent="-239713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»"/>
        <a:tabLst/>
        <a:defRPr sz="1200" spc="30" baseline="0">
          <a:solidFill>
            <a:schemeClr val="tx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971800" y="290514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BB730-96BC-DAF5-7747-B3407F7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FE83-9705-00DD-1DD1-27D362C1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17" y="1100382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B064F-F544-3C75-FE0D-F329C12CE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37550" y="4730314"/>
            <a:ext cx="36585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04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2" r:id="rId3"/>
    <p:sldLayoutId id="2147483693" r:id="rId4"/>
    <p:sldLayoutId id="2147483649" r:id="rId5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="1" i="0" spc="-40" baseline="0">
          <a:solidFill>
            <a:schemeClr val="bg1"/>
          </a:solidFill>
          <a:latin typeface="Franklin Gothic Demi Cond" panose="020B0603020102020204" pitchFamily="34" charset="0"/>
          <a:ea typeface="Franklin Gothic Demi Cond" panose="020B0603020102020204" pitchFamily="34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0" indent="0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None/>
        <a:defRPr sz="1200" b="0" i="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1pPr>
      <a:lvl2pPr marL="7938" indent="0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SzPct val="110000"/>
        <a:buFont typeface="Arial" panose="020B0604020202020204" pitchFamily="34" charset="0"/>
        <a:buNone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2pPr>
      <a:lvl3pPr marL="222250" indent="-2143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•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3pPr>
      <a:lvl4pPr marL="222250" indent="-2143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–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4pPr>
      <a:lvl5pPr marL="239713" indent="-2397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»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8B126-B6E8-5D02-ECA8-665E6F6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F7CE-40BE-91A1-F30E-4345B832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3525"/>
            <a:ext cx="7886700" cy="1957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subheading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7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58" r:id="rId2"/>
    <p:sldLayoutId id="2147483696" r:id="rId3"/>
    <p:sldLayoutId id="2147483698" r:id="rId4"/>
    <p:sldLayoutId id="2147483690" r:id="rId5"/>
  </p:sldLayoutIdLst>
  <p:hf hdr="0" ftr="0" dt="0"/>
  <p:txStyles>
    <p:titleStyle>
      <a:lvl1pPr algn="l" defTabSz="914400" rtl="0" eaLnBrk="1" latinLnBrk="0" hangingPunct="1">
        <a:lnSpc>
          <a:spcPts val="4900"/>
        </a:lnSpc>
        <a:spcBef>
          <a:spcPct val="0"/>
        </a:spcBef>
        <a:buNone/>
        <a:defRPr sz="5200" b="1" i="0" kern="1200" spc="-40" baseline="0">
          <a:solidFill>
            <a:srgbClr val="140F50"/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 spc="-30" baseline="0">
          <a:solidFill>
            <a:schemeClr val="tx2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7937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4pPr>
      <a:lvl5pPr marL="7937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8B126-B6E8-5D02-ECA8-665E6F6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F7CE-40BE-91A1-F30E-4345B832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3525"/>
            <a:ext cx="7886700" cy="225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subheading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35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9" r:id="rId2"/>
    <p:sldLayoutId id="2147483689" r:id="rId3"/>
    <p:sldLayoutId id="2147483691" r:id="rId4"/>
  </p:sldLayoutIdLst>
  <p:hf hdr="0" ftr="0" dt="0"/>
  <p:txStyles>
    <p:titleStyle>
      <a:lvl1pPr algn="l" defTabSz="914400" rtl="0" eaLnBrk="1" latinLnBrk="0" hangingPunct="1">
        <a:lnSpc>
          <a:spcPts val="5000"/>
        </a:lnSpc>
        <a:spcBef>
          <a:spcPct val="0"/>
        </a:spcBef>
        <a:buNone/>
        <a:defRPr sz="5200" b="1" i="0" kern="1200" spc="-40" baseline="0">
          <a:solidFill>
            <a:schemeClr val="bg1"/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200" b="0" i="0" kern="1200" spc="-30" baseline="0">
          <a:solidFill>
            <a:schemeClr val="accent2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0751E2-9888-EDC7-0631-E42B85F2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27" y="762511"/>
            <a:ext cx="8612683" cy="1437619"/>
          </a:xfrm>
        </p:spPr>
        <p:txBody>
          <a:bodyPr>
            <a:noAutofit/>
          </a:bodyPr>
          <a:lstStyle/>
          <a:p>
            <a:r>
              <a:rPr lang="en-US" sz="4400" dirty="0"/>
              <a:t>ARTI 6000: </a:t>
            </a:r>
            <a:r>
              <a:rPr lang="en-GB" sz="4400" dirty="0"/>
              <a:t>Advanced Topics in Artificial Intelligence &amp; Machine Learning</a:t>
            </a:r>
            <a:endParaRPr lang="en-US" sz="4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EFA513C-B966-FA9D-ECA0-26AF66BA1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7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AFCDDD-A48C-D25B-C85B-52E078540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064281"/>
              </p:ext>
            </p:extLst>
          </p:nvPr>
        </p:nvGraphicFramePr>
        <p:xfrm>
          <a:off x="306051" y="3436109"/>
          <a:ext cx="6468587" cy="701040"/>
        </p:xfrm>
        <a:graphic>
          <a:graphicData uri="http://schemas.openxmlformats.org/drawingml/2006/table">
            <a:tbl>
              <a:tblPr/>
              <a:tblGrid>
                <a:gridCol w="6468587">
                  <a:extLst>
                    <a:ext uri="{9D8B030D-6E8A-4147-A177-3AD203B41FA5}">
                      <a16:colId xmlns:a16="http://schemas.microsoft.com/office/drawing/2014/main" val="1445361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4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223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2CE8D-CDF9-450E-9D00-15021231F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8" y="2814616"/>
            <a:ext cx="7757585" cy="73129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Implementing and Evaluating an RLHF Pipeline for </a:t>
            </a:r>
            <a:r>
              <a:rPr lang="en-IN" sz="2000" dirty="0">
                <a:solidFill>
                  <a:srgbClr val="FFFF00"/>
                </a:solidFill>
              </a:rPr>
              <a:t>Open-Source LLMs</a:t>
            </a:r>
          </a:p>
          <a:p>
            <a:r>
              <a:rPr lang="en-IN" sz="1400" dirty="0">
                <a:solidFill>
                  <a:srgbClr val="FFFF00"/>
                </a:solidFill>
              </a:rPr>
              <a:t>By: Jaden Machado                           AUID: A1992876</a:t>
            </a:r>
            <a:endParaRPr lang="en-AU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9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78334-0666-7453-F34C-A4D793A2B8B4}"/>
              </a:ext>
            </a:extLst>
          </p:cNvPr>
          <p:cNvSpPr txBox="1"/>
          <p:nvPr/>
        </p:nvSpPr>
        <p:spPr>
          <a:xfrm>
            <a:off x="443593" y="801390"/>
            <a:ext cx="3368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What is RLHF?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2A902-2555-BA0B-4CBF-3315F9007887}"/>
              </a:ext>
            </a:extLst>
          </p:cNvPr>
          <p:cNvSpPr txBox="1"/>
          <p:nvPr/>
        </p:nvSpPr>
        <p:spPr>
          <a:xfrm>
            <a:off x="443593" y="1252619"/>
            <a:ext cx="856226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RLHF = Reinforcement Learning from Human Feedback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Aligns LLMs with what humans actually want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Fixes: hallucinations, bias, unhelpful outputs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AD5A7-87EF-88EE-56FD-208D677ACB58}"/>
              </a:ext>
            </a:extLst>
          </p:cNvPr>
          <p:cNvSpPr txBox="1"/>
          <p:nvPr/>
        </p:nvSpPr>
        <p:spPr>
          <a:xfrm>
            <a:off x="443593" y="2779382"/>
            <a:ext cx="4558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Key insight from InstructGPT Paper:</a:t>
            </a:r>
          </a:p>
          <a:p>
            <a:endParaRPr lang="en-US" sz="1800" dirty="0"/>
          </a:p>
          <a:p>
            <a:r>
              <a:rPr lang="en-US" sz="1200" dirty="0">
                <a:solidFill>
                  <a:schemeClr val="accent6">
                    <a:lumMod val="10000"/>
                  </a:schemeClr>
                </a:solidFill>
              </a:rPr>
              <a:t>1.3B model + RLHF &gt; 175B original model</a:t>
            </a:r>
          </a:p>
        </p:txBody>
      </p:sp>
      <p:pic>
        <p:nvPicPr>
          <p:cNvPr id="1026" name="Picture 2" descr="Paper Summary: Training language models to follow instructions with human  feedback">
            <a:extLst>
              <a:ext uri="{FF2B5EF4-FFF2-40B4-BE49-F238E27FC236}">
                <a16:creationId xmlns:a16="http://schemas.microsoft.com/office/drawing/2014/main" id="{CB1F489E-97D8-69D3-49FA-9272BE205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477" y="622131"/>
            <a:ext cx="2853018" cy="36996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591D23-EB87-404E-1B75-42C1101CA7C1}"/>
              </a:ext>
            </a:extLst>
          </p:cNvPr>
          <p:cNvSpPr txBox="1"/>
          <p:nvPr/>
        </p:nvSpPr>
        <p:spPr>
          <a:xfrm>
            <a:off x="6269232" y="4437320"/>
            <a:ext cx="1881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InstructGPT Paper</a:t>
            </a: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7E3DD-D2DA-52D6-18BA-269B05F9B154}"/>
              </a:ext>
            </a:extLst>
          </p:cNvPr>
          <p:cNvSpPr txBox="1"/>
          <p:nvPr/>
        </p:nvSpPr>
        <p:spPr>
          <a:xfrm>
            <a:off x="443593" y="3723383"/>
            <a:ext cx="46678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Research Question: </a:t>
            </a:r>
            <a:r>
              <a:rPr lang="en-US" sz="1200" dirty="0"/>
              <a:t>Does model capacity significantly impact the effectiveness of Reinforcement Learning from Human Feedback (RLHF) in small, open-source language models?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12622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0339FC-DF45-F6FF-D41A-37B38DAB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214" y="725371"/>
            <a:ext cx="7134039" cy="552740"/>
          </a:xfrm>
        </p:spPr>
        <p:txBody>
          <a:bodyPr>
            <a:noAutofit/>
          </a:bodyPr>
          <a:lstStyle/>
          <a:p>
            <a:r>
              <a:rPr lang="en-IN" sz="2800" dirty="0"/>
              <a:t>The 3-Stage Pipeline of RLHF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8FE3B-E500-A172-D566-87CCAF7131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14" y="1553951"/>
            <a:ext cx="5025764" cy="30470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DDCFC8-9759-BA3E-636C-3FEDF6521FF8}"/>
              </a:ext>
            </a:extLst>
          </p:cNvPr>
          <p:cNvSpPr txBox="1"/>
          <p:nvPr/>
        </p:nvSpPr>
        <p:spPr>
          <a:xfrm>
            <a:off x="5736725" y="1954068"/>
            <a:ext cx="2890834" cy="205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Stage 1: SFT</a:t>
            </a:r>
            <a:endParaRPr lang="en-IN" sz="1400" dirty="0"/>
          </a:p>
          <a:p>
            <a:r>
              <a:rPr lang="en-IN" sz="1050" dirty="0"/>
              <a:t>Train on instruction-response pairs (Alpaca dataset)</a:t>
            </a:r>
          </a:p>
          <a:p>
            <a:endParaRPr lang="en-IN" sz="1050" dirty="0"/>
          </a:p>
          <a:p>
            <a:r>
              <a:rPr lang="en-IN" sz="1400" b="1" dirty="0"/>
              <a:t>Stage 2: Reward Modelling</a:t>
            </a:r>
            <a:endParaRPr lang="en-IN" sz="1400" dirty="0"/>
          </a:p>
          <a:p>
            <a:r>
              <a:rPr lang="en-IN" sz="1000" dirty="0"/>
              <a:t>Train model to score responses (chosen vs rejected)</a:t>
            </a:r>
          </a:p>
          <a:p>
            <a:endParaRPr lang="en-IN" sz="1000" dirty="0"/>
          </a:p>
          <a:p>
            <a:r>
              <a:rPr lang="en-IN" sz="1400" b="1" dirty="0"/>
              <a:t>Stage 3: PPO</a:t>
            </a:r>
            <a:endParaRPr lang="en-IN" sz="1400" dirty="0"/>
          </a:p>
          <a:p>
            <a:r>
              <a:rPr lang="en-IN" sz="1000" dirty="0"/>
              <a:t>RL fine-tuning using reward model as guide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5569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BC7BFF-EC05-7FAD-3346-8266E302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09" y="568924"/>
            <a:ext cx="3872679" cy="731557"/>
          </a:xfrm>
        </p:spPr>
        <p:txBody>
          <a:bodyPr>
            <a:normAutofit/>
          </a:bodyPr>
          <a:lstStyle/>
          <a:p>
            <a:r>
              <a:rPr lang="en-US" sz="2000" dirty="0"/>
              <a:t>Models: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5F99A-8E3C-573E-1463-D9C1B54BF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0" t="51200" r="8600" b="20118"/>
          <a:stretch>
            <a:fillRect/>
          </a:stretch>
        </p:blipFill>
        <p:spPr>
          <a:xfrm>
            <a:off x="412809" y="1300481"/>
            <a:ext cx="7498080" cy="14752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78F0EF-9A7A-EAA3-0492-C35C4024E091}"/>
              </a:ext>
            </a:extLst>
          </p:cNvPr>
          <p:cNvSpPr txBox="1"/>
          <p:nvPr/>
        </p:nvSpPr>
        <p:spPr>
          <a:xfrm>
            <a:off x="412809" y="2966357"/>
            <a:ext cx="1487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Datasets</a:t>
            </a:r>
            <a:endParaRPr lang="en-IN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7D21C-65F5-1AB4-A076-D2283066BFC6}"/>
              </a:ext>
            </a:extLst>
          </p:cNvPr>
          <p:cNvSpPr txBox="1"/>
          <p:nvPr/>
        </p:nvSpPr>
        <p:spPr>
          <a:xfrm>
            <a:off x="412808" y="3428499"/>
            <a:ext cx="4860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>
                <a:solidFill>
                  <a:schemeClr val="accent6">
                    <a:lumMod val="10000"/>
                  </a:schemeClr>
                </a:solidFill>
              </a:rPr>
              <a:t>SFT:</a:t>
            </a:r>
            <a:r>
              <a:rPr lang="en-IN" sz="1000" dirty="0">
                <a:solidFill>
                  <a:schemeClr val="accent6">
                    <a:lumMod val="10000"/>
                  </a:schemeClr>
                </a:solidFill>
              </a:rPr>
              <a:t> yahma/alpaca-cleaned (1% subset)</a:t>
            </a:r>
          </a:p>
          <a:p>
            <a:endParaRPr lang="en-IN" sz="1000" dirty="0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IN" sz="1000" b="1" dirty="0">
                <a:solidFill>
                  <a:schemeClr val="accent6">
                    <a:lumMod val="10000"/>
                  </a:schemeClr>
                </a:solidFill>
              </a:rPr>
              <a:t>Reward:</a:t>
            </a:r>
            <a:r>
              <a:rPr lang="en-IN" sz="1000" dirty="0">
                <a:solidFill>
                  <a:schemeClr val="accent6">
                    <a:lumMod val="10000"/>
                  </a:schemeClr>
                </a:solidFill>
              </a:rPr>
              <a:t> Custom 2-example dataset (proof of concept)</a:t>
            </a:r>
          </a:p>
          <a:p>
            <a:endParaRPr lang="en-IN" sz="1000" dirty="0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IN" sz="1000" b="1" dirty="0">
                <a:solidFill>
                  <a:schemeClr val="accent6">
                    <a:lumMod val="10000"/>
                  </a:schemeClr>
                </a:solidFill>
              </a:rPr>
              <a:t>PPO prompts:</a:t>
            </a:r>
            <a:r>
              <a:rPr lang="en-IN" sz="1000" dirty="0">
                <a:solidFill>
                  <a:schemeClr val="accent6">
                    <a:lumMod val="10000"/>
                  </a:schemeClr>
                </a:solidFill>
              </a:rPr>
              <a:t> SST-2 movie reviews (filtered &gt;8 words)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428161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559642-65CB-3B6A-6869-C79E75BA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61" y="922492"/>
            <a:ext cx="3196023" cy="731557"/>
          </a:xfrm>
        </p:spPr>
        <p:txBody>
          <a:bodyPr>
            <a:normAutofit fontScale="90000"/>
          </a:bodyPr>
          <a:lstStyle/>
          <a:p>
            <a:r>
              <a:rPr lang="en-IN" sz="2200" dirty="0"/>
              <a:t>Key Results after applying PPO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46F56-5963-C92C-5B9F-21B2D0B30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33" t="28853" r="14800" b="39082"/>
          <a:stretch>
            <a:fillRect/>
          </a:stretch>
        </p:blipFill>
        <p:spPr>
          <a:xfrm>
            <a:off x="600584" y="1580769"/>
            <a:ext cx="6446654" cy="19819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65673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2CB37B-BE6E-C06C-4FB6-CDEE9332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545" y="788381"/>
            <a:ext cx="5616135" cy="443011"/>
          </a:xfrm>
        </p:spPr>
        <p:txBody>
          <a:bodyPr>
            <a:noAutofit/>
          </a:bodyPr>
          <a:lstStyle/>
          <a:p>
            <a:r>
              <a:rPr lang="en-US" sz="2400" dirty="0"/>
              <a:t>Output Results of different Models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C1EC8-EE69-5D01-CCEC-39400960A2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4" t="27695" r="20354" b="13308"/>
          <a:stretch>
            <a:fillRect/>
          </a:stretch>
        </p:blipFill>
        <p:spPr>
          <a:xfrm>
            <a:off x="296985" y="1712976"/>
            <a:ext cx="4053840" cy="182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950825-B3CB-73BC-A821-6B26230BC4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0" t="36000" r="43920" b="11467"/>
          <a:stretch>
            <a:fillRect/>
          </a:stretch>
        </p:blipFill>
        <p:spPr>
          <a:xfrm>
            <a:off x="4980432" y="135925"/>
            <a:ext cx="2407920" cy="1501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29C084-F894-86C7-24FF-6FC289E188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0" t="28869" r="40934" b="18578"/>
          <a:stretch>
            <a:fillRect/>
          </a:stretch>
        </p:blipFill>
        <p:spPr>
          <a:xfrm>
            <a:off x="4689844" y="1823258"/>
            <a:ext cx="4198123" cy="2383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7D27D6-7140-B4A1-B54E-94DE2FC1DAF3}"/>
              </a:ext>
            </a:extLst>
          </p:cNvPr>
          <p:cNvSpPr txBox="1"/>
          <p:nvPr/>
        </p:nvSpPr>
        <p:spPr>
          <a:xfrm>
            <a:off x="256033" y="3681984"/>
            <a:ext cx="3443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Using </a:t>
            </a:r>
            <a:r>
              <a:rPr lang="en-US" sz="1000" b="1" dirty="0"/>
              <a:t>distillgpt2</a:t>
            </a:r>
            <a:r>
              <a:rPr lang="en-US" sz="1000" dirty="0"/>
              <a:t> model getting an output that is repetitive</a:t>
            </a:r>
            <a:endParaRPr lang="en-IN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9735D5-3607-9A6C-6644-75E12B635201}"/>
              </a:ext>
            </a:extLst>
          </p:cNvPr>
          <p:cNvSpPr txBox="1"/>
          <p:nvPr/>
        </p:nvSpPr>
        <p:spPr>
          <a:xfrm>
            <a:off x="7388352" y="322118"/>
            <a:ext cx="1633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Using gpt2 model with SFT, reward training and PPO</a:t>
            </a:r>
            <a:endParaRPr lang="en-IN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248957-F2B4-7CBD-1E1E-6520DD96DDCD}"/>
              </a:ext>
            </a:extLst>
          </p:cNvPr>
          <p:cNvSpPr txBox="1"/>
          <p:nvPr/>
        </p:nvSpPr>
        <p:spPr>
          <a:xfrm>
            <a:off x="4689844" y="4410752"/>
            <a:ext cx="4315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Using Falcon-7b-instruct with 7B parameters without Reward training or PPO and getting amazing results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309164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AA983B-D96A-6350-4119-A5551503EB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5437" y="1807585"/>
            <a:ext cx="6527421" cy="152832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YES - Capacity critically determines RLHF success</a:t>
            </a:r>
            <a:endParaRPr lang="en-US" dirty="0">
              <a:latin typeface="Georgia" panose="02040502050405020303" pitchFamily="18" charset="0"/>
            </a:endParaRPr>
          </a:p>
          <a:p>
            <a:br>
              <a:rPr lang="en-US" dirty="0">
                <a:latin typeface="Georgia" panose="02040502050405020303" pitchFamily="18" charset="0"/>
              </a:rPr>
            </a:br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Georgia" panose="02040502050405020303" pitchFamily="18" charset="0"/>
              </a:rPr>
              <a:t>Quantitative evidence</a:t>
            </a:r>
            <a:endParaRPr lang="en-US" dirty="0">
              <a:solidFill>
                <a:srgbClr val="FF0000"/>
              </a:solidFill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GPT-2 (124M): </a:t>
            </a:r>
            <a:r>
              <a:rPr lang="en-US" b="1" dirty="0">
                <a:latin typeface="Georgia" panose="02040502050405020303" pitchFamily="18" charset="0"/>
              </a:rPr>
              <a:t>83% reward increase</a:t>
            </a:r>
            <a:r>
              <a:rPr lang="en-US" dirty="0">
                <a:latin typeface="Georgia" panose="02040502050405020303" pitchFamily="18" charset="0"/>
              </a:rPr>
              <a:t> (0.0648 → 0.1185) after applying PPO.</a:t>
            </a:r>
          </a:p>
          <a:p>
            <a:r>
              <a:rPr lang="en-US" dirty="0">
                <a:latin typeface="Georgia" panose="02040502050405020303" pitchFamily="18" charset="0"/>
              </a:rPr>
              <a:t>DistilGPT2 (82M): </a:t>
            </a:r>
            <a:r>
              <a:rPr lang="en-US" b="1" dirty="0">
                <a:latin typeface="Georgia" panose="02040502050405020303" pitchFamily="18" charset="0"/>
              </a:rPr>
              <a:t>No improvement</a:t>
            </a:r>
            <a:r>
              <a:rPr lang="en-US" dirty="0">
                <a:latin typeface="Georgia" panose="02040502050405020303" pitchFamily="18" charset="0"/>
              </a:rPr>
              <a:t>, policy collapsed , poor outputs.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8F9921-5D69-D391-CA4D-4E433EB4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09" y="800555"/>
            <a:ext cx="6455059" cy="731556"/>
          </a:xfrm>
        </p:spPr>
        <p:txBody>
          <a:bodyPr>
            <a:normAutofit/>
          </a:bodyPr>
          <a:lstStyle/>
          <a:p>
            <a:r>
              <a:rPr lang="en-US" sz="2800" dirty="0"/>
              <a:t>Research Conclusion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55266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7B960C-2F4E-7287-A1B0-AEABF5092047}"/>
              </a:ext>
            </a:extLst>
          </p:cNvPr>
          <p:cNvSpPr txBox="1"/>
          <p:nvPr/>
        </p:nvSpPr>
        <p:spPr>
          <a:xfrm>
            <a:off x="640080" y="627888"/>
            <a:ext cx="1944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Future work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C3237-947E-D304-0A04-6B582636E61E}"/>
              </a:ext>
            </a:extLst>
          </p:cNvPr>
          <p:cNvSpPr txBox="1"/>
          <p:nvPr/>
        </p:nvSpPr>
        <p:spPr>
          <a:xfrm>
            <a:off x="316992" y="1298448"/>
            <a:ext cx="59395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accent6">
                    <a:lumMod val="10000"/>
                  </a:schemeClr>
                </a:solidFill>
              </a:rPr>
              <a:t>🔹 Scale up to Llama 2 7B / Mistral 7B</a:t>
            </a:r>
          </a:p>
          <a:p>
            <a:endParaRPr lang="en-IN" sz="1800" dirty="0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IN" sz="1800" dirty="0">
                <a:solidFill>
                  <a:schemeClr val="accent6">
                    <a:lumMod val="10000"/>
                  </a:schemeClr>
                </a:solidFill>
              </a:rPr>
              <a:t>🔹 Use real preference data (HH-RLHF, </a:t>
            </a:r>
            <a:r>
              <a:rPr lang="en-IN" sz="1800" dirty="0" err="1">
                <a:solidFill>
                  <a:schemeClr val="accent6">
                    <a:lumMod val="10000"/>
                  </a:schemeClr>
                </a:solidFill>
              </a:rPr>
              <a:t>OpenAssistant</a:t>
            </a:r>
            <a:r>
              <a:rPr lang="en-IN" sz="1800" dirty="0">
                <a:solidFill>
                  <a:schemeClr val="accent6">
                    <a:lumMod val="10000"/>
                  </a:schemeClr>
                </a:solidFill>
              </a:rPr>
              <a:t>)</a:t>
            </a:r>
          </a:p>
          <a:p>
            <a:endParaRPr lang="en-IN" sz="1800" dirty="0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IN" sz="1800" dirty="0">
                <a:solidFill>
                  <a:schemeClr val="accent6">
                    <a:lumMod val="10000"/>
                  </a:schemeClr>
                </a:solidFill>
              </a:rPr>
              <a:t>🔹 Try DPO instead of PPO</a:t>
            </a:r>
          </a:p>
          <a:p>
            <a:endParaRPr lang="en-IN" sz="1800" dirty="0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IN" sz="1800" dirty="0">
                <a:solidFill>
                  <a:schemeClr val="accent6">
                    <a:lumMod val="10000"/>
                  </a:schemeClr>
                </a:solidFill>
              </a:rPr>
              <a:t>🔹 Use TRL/</a:t>
            </a:r>
            <a:r>
              <a:rPr lang="en-IN" sz="1800" dirty="0" err="1">
                <a:solidFill>
                  <a:schemeClr val="accent6">
                    <a:lumMod val="10000"/>
                  </a:schemeClr>
                </a:solidFill>
              </a:rPr>
              <a:t>OpenRLHF</a:t>
            </a:r>
            <a:r>
              <a:rPr lang="en-IN" sz="1800" dirty="0">
                <a:solidFill>
                  <a:schemeClr val="accent6">
                    <a:lumMod val="10000"/>
                  </a:schemeClr>
                </a:solidFill>
              </a:rPr>
              <a:t> libraries</a:t>
            </a:r>
          </a:p>
        </p:txBody>
      </p:sp>
    </p:spTree>
    <p:extLst>
      <p:ext uri="{BB962C8B-B14F-4D97-AF65-F5344CB8AC3E}">
        <p14:creationId xmlns:p14="http://schemas.microsoft.com/office/powerpoint/2010/main" val="6302938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18FF7C-6241-4D11-EF3A-0E430454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018864"/>
            <a:ext cx="7886700" cy="461665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21F3F-B621-D24B-DD53-1FD2794DCA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2036064"/>
            <a:ext cx="6954140" cy="2162874"/>
          </a:xfrm>
        </p:spPr>
        <p:txBody>
          <a:bodyPr/>
          <a:lstStyle/>
          <a:p>
            <a:r>
              <a:rPr lang="en-IN" dirty="0"/>
              <a:t>1) Ouyang et al. 2022 (</a:t>
            </a:r>
            <a:r>
              <a:rPr lang="en-IN" dirty="0" err="1"/>
              <a:t>InstructGPT</a:t>
            </a:r>
            <a:r>
              <a:rPr lang="en-IN" dirty="0"/>
              <a:t>)</a:t>
            </a:r>
          </a:p>
          <a:p>
            <a:r>
              <a:rPr lang="en-IN" dirty="0"/>
              <a:t>2) Bai et al. 2022 (HH-RLHF)</a:t>
            </a:r>
          </a:p>
          <a:p>
            <a:r>
              <a:rPr lang="en-IN" dirty="0"/>
              <a:t>3) Rafailov et al. 2023 (DPO)</a:t>
            </a:r>
          </a:p>
          <a:p>
            <a:r>
              <a:rPr lang="en-IN" dirty="0"/>
              <a:t>4) Code reference: https://github.com/ash80/RLHF_in_notebooks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2050" name="Picture 2" descr="navigating references for a job ...">
            <a:extLst>
              <a:ext uri="{FF2B5EF4-FFF2-40B4-BE49-F238E27FC236}">
                <a16:creationId xmlns:a16="http://schemas.microsoft.com/office/drawing/2014/main" id="{BD925EE0-C84E-D961-3540-9E3D2732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850" y="2475287"/>
            <a:ext cx="2981325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24166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BF6DBE-0A2D-E929-9704-E48D42E8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Implementation</a:t>
            </a:r>
            <a:endParaRPr lang="en-IN" dirty="0"/>
          </a:p>
        </p:txBody>
      </p:sp>
      <p:pic>
        <p:nvPicPr>
          <p:cNvPr id="3082" name="Picture 10" descr="Thank you transparent Images - Free ...">
            <a:extLst>
              <a:ext uri="{FF2B5EF4-FFF2-40B4-BE49-F238E27FC236}">
                <a16:creationId xmlns:a16="http://schemas.microsoft.com/office/drawing/2014/main" id="{8774A399-887A-B174-73E4-226BE5904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77" y="1671637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4447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AU Content Slides – Light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5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utureUni-ppt-v3-unisafirst" id="{0909A0E1-65ED-AB4D-A92D-8D3B4BFBABA5}" vid="{3FB9D24C-E0CF-D645-8833-E63CD4B64D83}"/>
    </a:ext>
  </a:extLst>
</a:theme>
</file>

<file path=ppt/theme/theme2.xml><?xml version="1.0" encoding="utf-8"?>
<a:theme xmlns:a="http://schemas.openxmlformats.org/drawingml/2006/main" name="AU Content Slides – Dark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5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utureUni-ppt-v3-unisafirst" id="{0909A0E1-65ED-AB4D-A92D-8D3B4BFBABA5}" vid="{3FB9D24C-E0CF-D645-8833-E63CD4B64D83}"/>
    </a:ext>
  </a:extLst>
</a:theme>
</file>

<file path=ppt/theme/theme3.xml><?xml version="1.0" encoding="utf-8"?>
<a:theme xmlns:a="http://schemas.openxmlformats.org/drawingml/2006/main" name="AU Cover Slides - Light">
  <a:themeElements>
    <a:clrScheme name="AU Working v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9883FF"/>
      </a:accent3>
      <a:accent4>
        <a:srgbClr val="C1B5FF"/>
      </a:accent4>
      <a:accent5>
        <a:srgbClr val="8AA3FF"/>
      </a:accent5>
      <a:accent6>
        <a:srgbClr val="D0DAFF"/>
      </a:accent6>
      <a:hlink>
        <a:srgbClr val="113CD5"/>
      </a:hlink>
      <a:folHlink>
        <a:srgbClr val="3B67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Cover Slides - Dark">
  <a:themeElements>
    <a:clrScheme name="Custom 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117B05CE81D4B82AC7E0ECEEE001B" ma:contentTypeVersion="14" ma:contentTypeDescription="Create a new document." ma:contentTypeScope="" ma:versionID="86b6b47a4382aa62c5805a5cd4e35bd4">
  <xsd:schema xmlns:xsd="http://www.w3.org/2001/XMLSchema" xmlns:xs="http://www.w3.org/2001/XMLSchema" xmlns:p="http://schemas.microsoft.com/office/2006/metadata/properties" xmlns:ns2="2d1024ab-11f5-49b8-a28a-56ba73c36ff9" xmlns:ns3="7bf5d640-ba26-46f9-8024-69a28b53b42d" targetNamespace="http://schemas.microsoft.com/office/2006/metadata/properties" ma:root="true" ma:fieldsID="796dacfc8fe3b72e8a31ec38fb670b4a" ns2:_="" ns3:_="">
    <xsd:import namespace="2d1024ab-11f5-49b8-a28a-56ba73c36ff9"/>
    <xsd:import namespace="7bf5d640-ba26-46f9-8024-69a28b53b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1024ab-11f5-49b8-a28a-56ba73c36f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7c634a6-047e-483d-88d5-be468d6f43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d640-ba26-46f9-8024-69a28b53b42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acc35d2-c5ac-4be0-85ed-728b08b9b0d0}" ma:internalName="TaxCatchAll" ma:showField="CatchAllData" ma:web="7bf5d640-ba26-46f9-8024-69a28b53b4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f5d640-ba26-46f9-8024-69a28b53b42d" xsi:nil="true"/>
    <lcf76f155ced4ddcb4097134ff3c332f xmlns="2d1024ab-11f5-49b8-a28a-56ba73c36ff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AF67D7-60D9-4848-B81A-18ED54C7E9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1024ab-11f5-49b8-a28a-56ba73c36ff9"/>
    <ds:schemaRef ds:uri="7bf5d640-ba26-46f9-8024-69a28b53b4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011804-D555-4DB4-9A94-73C332BD3E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7E2344-784A-409B-85B7-EAA575FD6CAC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0a08f58f-610f-455f-9949-82fcb626654f"/>
    <ds:schemaRef ds:uri="7bf5d640-ba26-46f9-8024-69a28b53b42d"/>
    <ds:schemaRef ds:uri="2d1024ab-11f5-49b8-a28a-56ba73c36ff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10263</TotalTime>
  <Words>351</Words>
  <Application>Microsoft Office PowerPoint</Application>
  <PresentationFormat>On-screen Show (16:9)</PresentationFormat>
  <Paragraphs>57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Franklin Gothic Demi Cond</vt:lpstr>
      <vt:lpstr>Franklin Gothic Medium Cond</vt:lpstr>
      <vt:lpstr>Georgia</vt:lpstr>
      <vt:lpstr>quote-cjk-patch</vt:lpstr>
      <vt:lpstr>AU Content Slides – Light</vt:lpstr>
      <vt:lpstr>AU Content Slides – Dark</vt:lpstr>
      <vt:lpstr>AU Cover Slides - Light</vt:lpstr>
      <vt:lpstr>Cover Slides - Dark</vt:lpstr>
      <vt:lpstr>ARTI 6000: Advanced Topics in Artificial Intelligence &amp; Machine Learning</vt:lpstr>
      <vt:lpstr>PowerPoint Presentation</vt:lpstr>
      <vt:lpstr>The 3-Stage Pipeline of RLHF</vt:lpstr>
      <vt:lpstr>Models:</vt:lpstr>
      <vt:lpstr>Key Results after applying PPO </vt:lpstr>
      <vt:lpstr>Output Results of different Models</vt:lpstr>
      <vt:lpstr>Research Conclusion</vt:lpstr>
      <vt:lpstr>PowerPoint Presentation</vt:lpstr>
      <vt:lpstr>References</vt:lpstr>
      <vt:lpstr>Code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Trepa</dc:creator>
  <cp:lastModifiedBy>jaden machado</cp:lastModifiedBy>
  <cp:revision>404</cp:revision>
  <cp:lastPrinted>2011-11-18T03:36:14Z</cp:lastPrinted>
  <dcterms:created xsi:type="dcterms:W3CDTF">2024-06-05T01:45:42Z</dcterms:created>
  <dcterms:modified xsi:type="dcterms:W3CDTF">2026-03-19T03:25:20Z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0x010100A8E117B05CE81D4B82AC7E0ECEEE001B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2023-12-11T23:57:33Z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9d960d3e-eac6-4a65-b196-bc93f9e23fbe</vt:lpwstr>
  </property>
  <property fmtid="{D5CDD505-2E9C-101B-9397-08002B2CF9AE}" pid="9" name="MSIP_Label_ea60d57e-af5b-4752-ac57-3e4f28ca11dc_ContentBits">
    <vt:lpwstr>0</vt:lpwstr>
  </property>
</Properties>
</file>